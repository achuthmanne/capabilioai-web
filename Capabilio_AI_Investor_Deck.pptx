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24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
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E"/>
                </a:solidFill>
                <a:latin typeface="Calibri"/>
              </a:defRPr>
            </a:pPr>
            <a:r>
              <a:rPr lang="en-GB" sz="1200" b="0" i="0" u="none" strike="noStrike">
                <a:solidFill>
                  <a:srgbClr val="1A1A1E"/>
                </a:solidFill>
                <a:latin typeface="Calibri"/>
              </a:rPr>
              <a:t>Market size (₹ Cr)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Crore</c:v>
                </c:pt>
              </c:strCache>
            </c:strRef>
          </c:tx>
          <c:spPr>
            <a:solidFill>
              <a:srgbClr val="E85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Recruitment</c:v>
                </c:pt>
                <c:pt idx="1">
                  <c:v>EdTech upskill</c:v>
                </c:pt>
                <c:pt idx="2">
                  <c:v>Our SAM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28000</c:v>
                </c:pt>
                <c:pt idx="1">
                  <c:v>12000</c:v>
                </c:pt>
                <c:pt idx="2">
                  <c:v>4200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8B-8A4A-BF4E-8137E80B65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3434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1A1A1E"/>
                </a:solidFill>
                <a:latin typeface="Calibri"/>
              </a:defRPr>
            </a:pPr>
            <a:r>
              <a:rPr lang="en-GB" sz="1150" b="0" i="0" u="none" strike="noStrike">
                <a:solidFill>
                  <a:srgbClr val="1A1A1E"/>
                </a:solidFill>
                <a:latin typeface="Calibri"/>
              </a:rPr>
              <a:t>Projected revenue (₹ Cr, illustrative)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(₹ Cr)</c:v>
                </c:pt>
              </c:strCache>
            </c:strRef>
          </c:tx>
          <c:spPr>
            <a:solidFill>
              <a:srgbClr val="E85A1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1A1E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10.9</c:v>
                </c:pt>
                <c:pt idx="1">
                  <c:v>62</c:v>
                </c:pt>
                <c:pt idx="2">
                  <c:v>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91-3548-9750-FD28B5E3C0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3434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0.11245</cdr:x>
      <cdr:y>0.21806</cdr:y>
    </cdr:from>
    <cdr:to>
      <cdr:x>0.29102</cdr:x>
      <cdr:y>0.44533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D5D0DF3-00E8-22B9-F921-B11B046C951B}"/>
            </a:ext>
          </a:extLst>
        </cdr:cNvPr>
        <cdr:cNvSpPr txBox="1"/>
      </cdr:nvSpPr>
      <cdr:spPr>
        <a:xfrm xmlns:a="http://schemas.openxmlformats.org/drawingml/2006/main">
          <a:off x="575825" y="87733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02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377440"/>
            <a:ext cx="5852160" cy="5852160"/>
          </a:xfrm>
          <a:prstGeom prst="ellipse">
            <a:avLst/>
          </a:prstGeom>
          <a:solidFill>
            <a:srgbClr val="1C1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1051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REAL. 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53642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057400" y="2194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100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CAPABILIO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6207760" y="219456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594360" y="3611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AI  CAREER OPERATING SYSTEM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4261104"/>
            <a:ext cx="8778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Resume-free hiring — a profile built from skills you prove, not claims you make. One platform to prove, learn, connect and get hired, powered by dynamic, verifiable ELO ratings. Building the infrastructure for Skills -First Hiring.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94360" y="5257800"/>
            <a:ext cx="4937760" cy="512064"/>
          </a:xfrm>
          <a:prstGeom prst="roundRect">
            <a:avLst>
              <a:gd name="adj" fmla="val 50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4360" y="5257800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41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DPIIT-Recognized Startup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43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Ventures Private Limited   ·   Vijayawada, Andhra Pradesh   ·   www.capabilio.online   ·   2026</a:t>
            </a:r>
            <a:endParaRPr lang="en-US" sz="1100" dirty="0"/>
          </a:p>
        </p:txBody>
      </p:sp>
      <p:pic>
        <p:nvPicPr>
          <p:cNvPr id="13" name="Picture 12" descr="A white and orange logo&#10;&#10;AI-generated content may be incorrect.">
            <a:extLst>
              <a:ext uri="{FF2B5EF4-FFF2-40B4-BE49-F238E27FC236}">
                <a16:creationId xmlns:a16="http://schemas.microsoft.com/office/drawing/2014/main" id="{5BC6A212-0B95-EC26-4596-7D3ABBB2B14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" y="2002536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career OS — not just a test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5000"/>
              </a:lnSpc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AI is resume-free: a candidate proves skills and their profile is built from that verified proof — not self-declared claims. Assess and prove, close gaps with AI learning, connect with peers and mentors, and apply to jobs — all in one platform, anchored by a live ELO rating. </a:t>
            </a:r>
            <a:r>
              <a:rPr lang="en-GB" sz="1450" dirty="0">
                <a:latin typeface="Calibri" panose="020F0502020204030204" pitchFamily="34" charset="0"/>
                <a:cs typeface="Calibri" panose="020F0502020204030204" pitchFamily="34" charset="0"/>
              </a:rPr>
              <a:t>Production-ready beta platform with live pilots</a:t>
            </a: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colleges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pilots in Andhra Pradesh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2900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56616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onboarded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roles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3550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the Arena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301752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06840" y="3200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914400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daily to build portfolios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5074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speak.  </a:t>
            </a:r>
            <a:r>
              <a:rPr lang="en-US" sz="2200" b="1" i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prove.  </a:t>
            </a:r>
            <a:r>
              <a:rPr lang="en-US" sz="2200" b="1" i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Resumes retire.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talent-visibility crisis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5852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produces world-class engineers — the hiring system makes most of them invisible. Pedigree beats potential, and Tier 2/3 talent is filtered out before a single skill is tested.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3291840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3544" y="3191256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42.6–54.8%  —  </a:t>
            </a: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graduates are employable (Wheebox, 2023)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4005072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390448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 —  </a:t>
            </a:r>
            <a:r>
              <a:rPr lang="en-GB" sz="1350" dirty="0"/>
              <a:t>Many qualified Tier-2/3 candidates are filtered before technical evaluation due to pedigree-based screening.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" y="4718304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46177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 —  </a:t>
            </a:r>
            <a:r>
              <a:rPr lang="en-US" sz="1350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applicants misrepresent their resume (Resume Lab, 2022)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20840" y="173736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95160" y="1965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resume-based hiring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95160" y="24688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 L+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59536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cost-per-hire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995160" y="3310128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days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95360" y="3355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time-to-fill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95160" y="4151376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95360" y="41970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skill mismatch in 3 months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5160" y="4992624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with live ELO rankings &amp; Operating System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Skill-based hiring is inflecting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2212848"/>
            <a:ext cx="566928" cy="566928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81912" y="2212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not degrees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8529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Skills-based hiring is growing 63% YoY (LinkedIn, 2025); Google, IBM and others dropped degree requirements.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82512" y="2212848"/>
            <a:ext cx="566928" cy="566928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82512" y="2212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makes proof measurable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19088" y="285292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generate and grade real, role-specific tasks at scale — objective skill measurement is finally viable.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840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50392" y="4133088"/>
            <a:ext cx="566928" cy="566928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50392" y="4133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81912" y="41330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rails exist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6968" y="477316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 and EPFO APIs let identity, academics and work history be verified digitally and instantly.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5257800" cy="1691640"/>
          </a:xfrm>
          <a:prstGeom prst="roundRect">
            <a:avLst>
              <a:gd name="adj" fmla="val 4324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82512" y="4133088"/>
            <a:ext cx="566928" cy="566928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82512" y="41330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14032" y="413308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clock is ticking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4773168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of workers' core skills will be disrupted by AI by 2027 (WEF) — static credentials can't keep up.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B4CF56-ACB8-E195-A835-0035C86B3A7E}"/>
              </a:ext>
            </a:extLst>
          </p:cNvPr>
          <p:cNvSpPr txBox="1"/>
          <p:nvPr/>
        </p:nvSpPr>
        <p:spPr>
          <a:xfrm>
            <a:off x="803278" y="5799580"/>
            <a:ext cx="5365893" cy="3154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50" dirty="0">
                <a:latin typeface="Calibri" panose="020F0502020204030204" pitchFamily="34" charset="0"/>
                <a:cs typeface="Calibri" panose="020F0502020204030204" pitchFamily="34" charset="0"/>
              </a:rPr>
              <a:t>Supports Digital India · India AI Mission · Startup India · Skill India</a:t>
            </a:r>
            <a:endParaRPr lang="en-US" sz="14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Resume-free hiring: proof, not claims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00784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 means no fake claims. A candidate competes, proves real skills and gets verified — then their profile is built automatically from what they actually  demonstrated, not what they type. Skill becomes a live, comparable ELO rating.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724912"/>
            <a:ext cx="6492240" cy="3200400"/>
          </a:xfrm>
          <a:prstGeom prst="roundRect">
            <a:avLst>
              <a:gd name="adj" fmla="val 2286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9080" y="2926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Capabilio profile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04488" y="3310128"/>
            <a:ext cx="0" cy="242316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41985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Self-declared claims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3419856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Competed &amp; verified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89077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never updates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0" y="3890772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ELO, updates each task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3616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brand bias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4361688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Performance only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83260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4832604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DigiLocker / EPFO verified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530352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5303520"/>
            <a:ext cx="2788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Mathematically ranked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269480" y="2724912"/>
            <a:ext cx="4297680" cy="3200400"/>
          </a:xfrm>
          <a:prstGeom prst="roundRect">
            <a:avLst>
              <a:gd name="adj" fmla="val 2286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3291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R′ = R + K × ( Score − Expected 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498080" y="38953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dynamic, multi-domain, decaying skill rating — earned against real peers on real tasks, like a chess rating.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98080" y="50292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i="1" dirty="0">
                <a:solidFill>
                  <a:srgbClr val="F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profile writes itself — from proven, verified skills.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PROOF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a career needs — in one OS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23591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95528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+ ELO — compete on real tasks; earn a verified, live skill rating.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23591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84448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Studio — AI-generated paths that close the exact gaps your ELO reveals.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1031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223760" y="23591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73368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Pulse, Guilds &amp; Mentorship — community, peer cohorts and verified mentors.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61120" y="210312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012680" y="235915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05256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62288" y="361188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 — ELO-first jobs, internships &amp; hackathons with AI match scoring.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feeds the others — proving reveals gaps, gaps drive learning, learning grows ELO, ELO unlocks jobs. Compounding value competitors can't replicate feature-by-feature.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→ learn → connect → get hired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27048" y="2377440"/>
            <a:ext cx="512064" cy="512064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2704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3520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Timed, AI-generated challenges on real Indian-company datasets in the Arena.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63240" y="3566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A1A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8328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15968" y="2377440"/>
            <a:ext cx="512064" cy="512064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1596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&amp; learn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84448" y="3520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updates instantly; Skill Studio auto-builds paths to close the gaps.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0" y="3566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A1A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04888" y="2377440"/>
            <a:ext cx="512064" cy="512064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0488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&amp; verify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3368" y="3520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Guilds, mentors &amp; DigiLocker/EPFO — grow with peers, verify identity &amp; tenure.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41080" y="3566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5A1A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61120" y="2148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893808" y="2377440"/>
            <a:ext cx="512064" cy="512064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93808" y="23774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0" y="30632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62288" y="35204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Launchpad connects verified skill to jobs with an ELO threshold — no CV.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post roles with an ELO minimum. Candidates apply by rating, not pedigree — pedigree stops deciding careers.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HIRING OUTCOME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in days, not months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00784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skills are pre-verified, there's no resume screening and no background-check wait. Recruiters search by verified ELO, reach a handful of genuinely qualified candidates, and close in days — with full transparency for every candidate.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2788920"/>
            <a:ext cx="6355080" cy="457200"/>
          </a:xfrm>
          <a:prstGeom prst="rect">
            <a:avLst/>
          </a:prstGeom>
          <a:solidFill>
            <a:srgbClr val="1A1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9184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2788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3246120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3246120"/>
            <a:ext cx="1920240" cy="566928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2376" y="32461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hire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days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0" y="324612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days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3813048"/>
            <a:ext cx="635508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29200" y="3813048"/>
            <a:ext cx="1920240" cy="566928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" y="3813048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&amp; background check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813048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wk wait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0" y="381304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Pre-verified, instant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379976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029200" y="4379976"/>
            <a:ext cx="1920240" cy="566928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" y="4379976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/ role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4379976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300–500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0" y="4379976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 qualified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4946904"/>
            <a:ext cx="6355080" cy="566928"/>
          </a:xfrm>
          <a:prstGeom prst="rect">
            <a:avLst/>
          </a:prstGeom>
          <a:solidFill>
            <a:srgbClr val="FBF9F4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029200" y="4946904"/>
            <a:ext cx="1920240" cy="566928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22376" y="4946904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hours / hire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1840" y="494690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0" y="4946904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513832"/>
            <a:ext cx="63550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5513832"/>
            <a:ext cx="1920240" cy="566928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2376" y="55138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hires (90 days)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91840" y="5513832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29200" y="5513832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223760" y="2788920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52360" y="29260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88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days </a:t>
            </a:r>
            <a:r>
              <a:rPr lang="en-US" sz="20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days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2360" y="3364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 screening. No background-check wait — skills are already verified.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23760" y="3977640"/>
            <a:ext cx="4343400" cy="1051560"/>
          </a:xfrm>
          <a:prstGeom prst="roundRect">
            <a:avLst>
              <a:gd name="adj" fmla="val 6957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52360" y="4114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transparency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52360" y="444398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candidate gets an AI gap-analysis + roadmap — “not a rejection, a roadmap.”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223760" y="5166360"/>
            <a:ext cx="4343400" cy="914400"/>
          </a:xfrm>
          <a:prstGeom prst="roundRect">
            <a:avLst>
              <a:gd name="adj" fmla="val 8000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452360" y="52760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Non-gameable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452360" y="559612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 can't be hand-edited — they update only from real platform activity.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modules, one career identity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2167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Arena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0392" y="271576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proving ground — timed challenges, real datasets, live ELO.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0248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98848" y="21945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47488" y="2167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71576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career dashboard — ELO history, skill radar, verified badges.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46136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74736" y="219456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23376" y="21671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 Studio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02168" y="271576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learning paths that close the exact gaps ELO reveals.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41605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Launchpad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0392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ELO-first jobs &amp; internships with AI match scoring — no resume.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70248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98848" y="41605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47488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Pulse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Skill-matched tech feed, community and verification engine.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46136" y="39319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74736" y="416052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723376" y="413308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Guilds · Mentors · Campaigns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02168" y="46817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cohorts, verified mentors and AI industry simulations — all ELO-linked.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incumbent does what we do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1018520" cy="548640"/>
          </a:xfrm>
          <a:prstGeom prst="rect">
            <a:avLst/>
          </a:prstGeom>
          <a:solidFill>
            <a:srgbClr val="1A1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" y="18745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12464" y="18745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0" y="18745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Naukri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94576" y="18745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85632" y="18745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E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76688" y="1874520"/>
            <a:ext cx="15179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423160"/>
            <a:ext cx="11018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21824" y="2423160"/>
            <a:ext cx="1591056" cy="676656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" y="2423160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ELO skill rating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94176" y="2423160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85232" y="2423160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76288" y="2423160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67344" y="2423160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2423160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099816"/>
            <a:ext cx="11018520" cy="676656"/>
          </a:xfrm>
          <a:prstGeom prst="rect">
            <a:avLst/>
          </a:prstGeom>
          <a:solidFill>
            <a:srgbClr val="FBF9F4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21824" y="3099816"/>
            <a:ext cx="1591056" cy="676656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" y="3099816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Resume-free hiring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694176" y="3099816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3099816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3099816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67344" y="3099816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3099816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" y="3776472"/>
            <a:ext cx="11018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021824" y="3776472"/>
            <a:ext cx="1591056" cy="676656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22376" y="3776472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+ connect + apply in one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94176" y="3776472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3776472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76288" y="3776472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67344" y="3776472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58400" y="3776472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94360" y="4453128"/>
            <a:ext cx="11018520" cy="676656"/>
          </a:xfrm>
          <a:prstGeom prst="rect">
            <a:avLst/>
          </a:prstGeom>
          <a:solidFill>
            <a:srgbClr val="FBF9F4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021824" y="4453128"/>
            <a:ext cx="1591056" cy="676656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22376" y="4453128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verification (API)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694176" y="445312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85232" y="445312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76288" y="445312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67344" y="445312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058400" y="4453128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360" y="5129784"/>
            <a:ext cx="110185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0021824" y="5129784"/>
            <a:ext cx="1591056" cy="676656"/>
          </a:xfrm>
          <a:prstGeom prst="rect">
            <a:avLst/>
          </a:prstGeom>
          <a:solidFill>
            <a:srgbClr val="FBEE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2376" y="5129784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Tier 2/3 depth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694176" y="5129784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85232" y="5129784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partly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876288" y="5129784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467344" y="5129784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058400" y="5129784"/>
            <a:ext cx="151790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GB" sz="3100" b="1" dirty="0">
                <a:latin typeface="Cambria" panose="02040503050406030204" pitchFamily="18" charset="0"/>
              </a:rPr>
              <a:t>A Large, Growing Market Ready for Skills-First Hiring</a:t>
            </a:r>
            <a:endParaRPr lang="en-US" sz="3100" b="1" dirty="0">
              <a:latin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8000"/>
              </a:lnSpc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recruitment and upskilling markets are large and growing — and </a:t>
            </a:r>
            <a:r>
              <a:rPr lang="en-GB" sz="1450" dirty="0" err="1">
                <a:solidFill>
                  <a:srgbClr val="4343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</a:t>
            </a:r>
            <a:r>
              <a:rPr lang="en-GB" sz="1450" dirty="0" err="1">
                <a:latin typeface="Calibri" panose="020F0502020204030204" pitchFamily="34" charset="0"/>
                <a:cs typeface="Calibri" panose="020F0502020204030204" pitchFamily="34" charset="0"/>
              </a:rPr>
              <a:t>apabilio</a:t>
            </a:r>
            <a:r>
              <a:rPr lang="en-GB" sz="1450" dirty="0">
                <a:latin typeface="Calibri" panose="020F0502020204030204" pitchFamily="34" charset="0"/>
                <a:cs typeface="Calibri" panose="020F0502020204030204" pitchFamily="34" charset="0"/>
              </a:rPr>
              <a:t> combines AI assessment, real-world simulations, dynamic skill ratings, verified portfolios, and recruiter matching into a unified Career Operating System</a:t>
            </a:r>
            <a:r>
              <a:rPr lang="en-GB" sz="1600" dirty="0"/>
              <a:t>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3154680"/>
            <a:ext cx="164592" cy="164592"/>
          </a:xfrm>
          <a:prstGeom prst="ellipse">
            <a:avLst/>
          </a:prstGeom>
          <a:solidFill>
            <a:srgbClr val="1A1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3544" y="30175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₹28,000 Cr  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43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online recruitment market (2025)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4114800"/>
            <a:ext cx="164592" cy="164592"/>
          </a:xfrm>
          <a:prstGeom prst="ellipse">
            <a:avLst/>
          </a:prstGeom>
          <a:solidFill>
            <a:srgbClr val="1A1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39776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₹12,000 Cr  </a:t>
            </a:r>
            <a:endParaRPr lang="en-US" sz="1800" dirty="0"/>
          </a:p>
          <a:p>
            <a:pPr marL="0" indent="0">
              <a:buNone/>
            </a:pPr>
            <a:r>
              <a:rPr lang="en-US" sz="1200" dirty="0">
                <a:solidFill>
                  <a:srgbClr val="43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EdTech skills &amp; upskilling segment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5074920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49377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₹4,200 Cr+  </a:t>
            </a:r>
            <a:endParaRPr lang="en-US" sz="1800" dirty="0"/>
          </a:p>
          <a:p>
            <a:r>
              <a:rPr lang="en-GB" sz="1200" dirty="0">
                <a:latin typeface="Cambria" panose="02040503050406030204" pitchFamily="18" charset="0"/>
                <a:cs typeface="Calibri" panose="020F0502020204030204" pitchFamily="34" charset="0"/>
              </a:rPr>
              <a:t>Serviceable Addressable Market (SAM) </a:t>
            </a:r>
            <a:endParaRPr lang="en-US" sz="1200" dirty="0">
              <a:latin typeface="Cambria" panose="02040503050406030204" pitchFamily="18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2144085261"/>
              </p:ext>
            </p:extLst>
          </p:nvPr>
        </p:nvGraphicFramePr>
        <p:xfrm>
          <a:off x="6492240" y="1828800"/>
          <a:ext cx="51206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6830D-D28B-4B67-058A-8A12864584DE}"/>
              </a:ext>
            </a:extLst>
          </p:cNvPr>
          <p:cNvSpPr txBox="1"/>
          <p:nvPr/>
        </p:nvSpPr>
        <p:spPr>
          <a:xfrm>
            <a:off x="676656" y="5877806"/>
            <a:ext cx="8887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Sources:</a:t>
            </a:r>
            <a:r>
              <a:rPr lang="en-GB" sz="1600" dirty="0">
                <a:latin typeface="Calibri" panose="020F0502020204030204" pitchFamily="34" charset="0"/>
                <a:cs typeface="Calibri" panose="020F0502020204030204" pitchFamily="34" charset="0"/>
              </a:rPr>
              <a:t> NASSCOM (2025), IMARC Group (2025), Grand View Research (2025), India Skills Report (2025).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revenue from three sides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645920" y="23774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Learners (B2C)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→ Capabilio Pro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₹499–999 / month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21488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434840" y="23774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Colleges (B2B)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C9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Campus-wide licences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6616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F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₹5–25 L / year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1488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23760" y="23774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Recruiters (B2E)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ELO talent pool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₹20K–1 L / month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61120" y="2148840"/>
            <a:ext cx="2651760" cy="324612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012680" y="23774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52560" y="30632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Micro-transactions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0" y="37490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mock interviews · campaign packs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0" y="4709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₹29+ / use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flywheel: every graded challenge sharpens calibration and grows a proprietary skill-signal dataset that recruiters pay for.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Live, loved, and growing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colleges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874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3,000+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onboarded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F6F2EA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7220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live in Arena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0" y="1874520"/>
            <a:ext cx="2651760" cy="1600200"/>
          </a:xfrm>
          <a:prstGeom prst="roundRect">
            <a:avLst>
              <a:gd name="adj" fmla="val 4571"/>
            </a:avLst>
          </a:prstGeom>
          <a:solidFill>
            <a:srgbClr val="1A1A1E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0" y="20116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098280" y="27889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daily to build portfolios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4297680"/>
            <a:ext cx="402336" cy="402336"/>
          </a:xfrm>
          <a:prstGeom prst="ellipse">
            <a:avLst/>
          </a:prstGeom>
          <a:solidFill>
            <a:srgbClr val="1A1A1E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61288" y="427939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College-first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engineering colleges — campus ambassadors + weekly ELO challenge events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4800600"/>
            <a:ext cx="402336" cy="402336"/>
          </a:xfrm>
          <a:prstGeom prst="ellipse">
            <a:avLst/>
          </a:prstGeom>
          <a:solidFill>
            <a:srgbClr val="E85A1A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800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" y="478231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by design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of onboarded students return daily to practise and grow their portfolios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94360" y="5303520"/>
            <a:ext cx="402336" cy="402336"/>
          </a:xfrm>
          <a:prstGeom prst="ellipse">
            <a:avLst/>
          </a:prstGeom>
          <a:solidFill>
            <a:srgbClr val="1A1A1E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53035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528523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path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 → employer pilots → first paying recruiter (₹5K/mo)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94360" y="5806440"/>
            <a:ext cx="402336" cy="402336"/>
          </a:xfrm>
          <a:prstGeom prst="ellipse">
            <a:avLst/>
          </a:prstGeom>
          <a:solidFill>
            <a:srgbClr val="1A1A1E"/>
          </a:solidFill>
          <a:ln/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94360" y="58064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" y="5788152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Capabilio Ventures Private Limited; DPIIT recognition underway to scale across AP &amp; India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compounds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37360"/>
            <a:ext cx="5577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 and a config-driven engine mean each new college, role and recruiter adds little marginal cost — revenue scales far ahead of headcount.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3493008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23544" y="3383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1:  </a:t>
            </a:r>
            <a:r>
              <a:rPr lang="en-US" sz="18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₹10.9 Cr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4151376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23544" y="404164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2:  </a:t>
            </a:r>
            <a:r>
              <a:rPr lang="en-US" sz="18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 Cr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809744"/>
            <a:ext cx="164592" cy="164592"/>
          </a:xfrm>
          <a:prstGeom prst="ellipse">
            <a:avLst/>
          </a:prstGeom>
          <a:solidFill>
            <a:srgbClr val="E85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23544" y="47000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43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3:  </a:t>
            </a:r>
            <a:r>
              <a:rPr lang="en-US" sz="18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₹213 Cr</a:t>
            </a:r>
            <a:endParaRPr lang="en-US" sz="14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400800" y="182880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EBC665-8FA6-815F-B2E0-13F3731E0840}"/>
              </a:ext>
            </a:extLst>
          </p:cNvPr>
          <p:cNvSpPr txBox="1"/>
          <p:nvPr/>
        </p:nvSpPr>
        <p:spPr>
          <a:xfrm>
            <a:off x="432937" y="5693586"/>
            <a:ext cx="47201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highlight>
                  <a:srgbClr val="FFFF00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Illustrative scenario based on current pricing assumptions.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&amp; WEALTH CREATION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invisible talent hireable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194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Enables employment at scale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86968" y="281635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skilled Tier 2/3 candidates recruiters never saw — turning unplaced graduates into hires on merit.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9202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82512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95160" y="219456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direct jobs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19088" y="281635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growing team across AI, engineering, content, campus BD and recruiter success as we scale across India.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39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160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in days, not weeks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86968" y="478231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₹2 L+ cost-per-hire and 45-day cycles down to a few days — with transparent, roadmap-based feedback for every candidate.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BF9F4"/>
          </a:solidFill>
          <a:ln w="12700">
            <a:solidFill>
              <a:srgbClr val="E7E1D6"/>
            </a:solidFill>
            <a:prstDash val="solid"/>
          </a:ln>
          <a:effectLst>
            <a:outerShdw blurRad="114300" dist="25400" dir="5400000" algn="bl" rotWithShape="0">
              <a:srgbClr val="1A1A1E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82512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95160" y="4160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Formalises the informal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19088" y="4782312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tenure and DPDP-aligned records bring transparency to a market riddled with fraud.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CREDIBILITY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DPIIT-recognized. Incorporated. Ready to scale.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78408" y="175564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03000"/>
              </a:lnSpc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Recognized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as a Startup under the Startup India initiative by the Department for Promotion of Industry and Internal Trade, Government of India.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510528" y="175564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Ventures Private Limited, registered and headquartered in Vijayawada, Andhra Pradesh.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78408" y="294436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IP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Evolved from EDVAANCE into an independently built platform; operates within DPIIT's 10-year / ₹200 Cr turnover eligibility limits.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12648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10528" y="2944368"/>
            <a:ext cx="4983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Data-aligned — </a:t>
            </a: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DPDP Act-aligned data handling and verification rails (DigiLocker/EPFO-ready) from day 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110185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9834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secured, incorporation complete. </a:t>
            </a:r>
            <a:r>
              <a:rPr lang="en-US" sz="13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is now scaling its live pilots across Andhra Pradesh and preparing for expansion to campuses and recruiters pan-India.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194560"/>
            <a:ext cx="5486400" cy="5486400"/>
          </a:xfrm>
          <a:prstGeom prst="ellipse">
            <a:avLst/>
          </a:prstGeom>
          <a:solidFill>
            <a:srgbClr val="1C14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94360" y="24231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100" dirty="0">
                <a:solidFill>
                  <a:srgbClr val="F2EC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CAPABILIO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4274820" y="2423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5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9436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07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are real. Prove it.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9436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AI Career Operating System — prove, learn, connect, get hired. Built for India's engineers.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4360" y="4526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raising our seed round to scale across India — let's talk.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" y="4892040"/>
            <a:ext cx="11018520" cy="0"/>
          </a:xfrm>
          <a:prstGeom prst="line">
            <a:avLst/>
          </a:prstGeom>
          <a:noFill/>
          <a:ln w="12700">
            <a:solidFill>
              <a:srgbClr val="3A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5120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
</a:t>
            </a:r>
            <a:r>
              <a:rPr lang="en-US" sz="13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Capabilio Ventures Private Limited · Vijayawada, Andhra Pradesh · Venkata Kopuri · </a:t>
            </a:r>
            <a:r>
              <a:rPr lang="en-US" sz="1300" dirty="0" err="1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founder@capabilio.online</a:t>
            </a:r>
            <a:r>
              <a:rPr lang="en-US" sz="130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9550339379</a:t>
            </a:r>
            <a:endParaRPr lang="en-US" sz="1300" dirty="0"/>
          </a:p>
        </p:txBody>
      </p:sp>
      <p:pic>
        <p:nvPicPr>
          <p:cNvPr id="11" name="Picture 10" descr="A white and orange logo&#10;&#10;AI-generated content may be incorrect.">
            <a:extLst>
              <a:ext uri="{FF2B5EF4-FFF2-40B4-BE49-F238E27FC236}">
                <a16:creationId xmlns:a16="http://schemas.microsoft.com/office/drawing/2014/main" id="{EC077388-BEAF-6FEA-379F-38F6849BB6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4360" y="1103515"/>
            <a:ext cx="1039091" cy="10390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5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A1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Founder-led, built for this market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94360" y="1996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901952"/>
            <a:ext cx="4544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Venkata Kopuri — Founder &amp; CEO</a:t>
            </a:r>
            <a:endParaRPr lang="en-US" sz="135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Vijayawada, Andhra Pradesh. Solo-built the full platform (React, Node, Groq AI) in ~14 months, with deep firsthand grasp of India's Tier 2/3 talent gap.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126480" y="1996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949440" y="1901952"/>
            <a:ext cx="45445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A1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&amp; BD Co-founder</a:t>
            </a:r>
            <a:endParaRPr lang="en-US" sz="1350" b="1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campus and recruiter partnerships — the go-to-market counterpart to the founder's product build.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657600"/>
            <a:ext cx="11018520" cy="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5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team works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206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434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founder who has personally built the entire technical stack and lived the Tier 2/3 talent gap firsthand, paired with dedicated go-to-market execution — the combination investors look for at pre-seed/seed stage.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64556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www.capabilio.online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31575" y="645566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8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1831</Words>
  <Application>Microsoft Macintosh PowerPoint</Application>
  <PresentationFormat>Widescreen</PresentationFormat>
  <Paragraphs>306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Capabilio AI — DPIIT Recognition</dc:title>
  <dc:subject>PptxGenJS Presentation</dc:subject>
  <dc:creator>Capabilio AI</dc:creator>
  <cp:lastModifiedBy>Venkata Gopi Chand Kopuri</cp:lastModifiedBy>
  <cp:revision>4</cp:revision>
  <dcterms:created xsi:type="dcterms:W3CDTF">2026-07-17T07:34:46Z</dcterms:created>
  <dcterms:modified xsi:type="dcterms:W3CDTF">2026-07-17T10:02:56Z</dcterms:modified>
</cp:coreProperties>
</file>